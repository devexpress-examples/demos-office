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9"/>
  </p:notesMasterIdLst>
  <p:sldIdLst>
    <p:sldId id="278" r:id="rId5"/>
    <p:sldId id="274" r:id="rId6"/>
    <p:sldId id="276" r:id="rId7"/>
    <p:sldId id="277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03C"/>
    <a:srgbClr val="E6E3DA"/>
    <a:srgbClr val="E7E4D6"/>
    <a:srgbClr val="D9D1BF"/>
    <a:srgbClr val="E6DDC8"/>
    <a:srgbClr val="F0ECDA"/>
    <a:srgbClr val="E4E4E4"/>
    <a:srgbClr val="CCE2DD"/>
    <a:srgbClr val="26423D"/>
    <a:srgbClr val="3E5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7A5C-04BA-48DC-B512-2EAB7558CB8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046B9-D4E7-4231-8181-A04B42F44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F19B-2B82-BA22-CC9B-F8F26E259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5F3B3-3490-A55D-FE66-3BA0AF55C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400A3-8C41-9E42-5A12-617BD9AB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8231-2462-4509-8B56-66F859EBD9A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69FF-6FC5-D9DD-1C11-F8ED801C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5D0D-15B4-09CE-D911-F1666884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7529-051B-0391-0831-2624F4A2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2A3D-FDEC-119F-1014-F0D2D32C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6A6C-22D5-2276-BF35-F978786A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0FED-E005-4885-A69D-BC6C1D8A7D0A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7D9C3-1763-7EF8-715E-79D4446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342B8-C0AC-D658-96F4-B32B88CD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7B5B-FCC7-69DF-F1D9-DDAE578A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10DF0-D6A9-8E9F-74D4-C09067E68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8333-E8E0-FF8F-8856-37F2F9D6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D54CD-66D3-497F-AFA6-29A3AA13F8C1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1AFF-7216-7DBE-FDF6-C0AE9E3C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8769-3783-1877-FD42-17DFC33C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020E-8A36-EAB6-9862-D075C965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870-945F-FA49-FDA6-904FF1C0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D204D-6B3E-D991-B4FE-592EE906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754D-0171-8E8E-474B-DAEB18BD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09F6B-5AD7-40A6-A008-3986B9326390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5ACFF-46CA-705B-BD11-1F1DAD3A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8B1E-6ECA-1DBA-2290-5E17FAC8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9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2D36-7845-3913-F575-2CB2030B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E96B8-C767-5CB8-24E5-018797E9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01578-B540-1044-6F58-860C1F978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ED27F-FBF8-487C-132B-575CE3D2E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8C852-8F12-468E-E3D6-57A61A2B0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924E4-045B-EF5C-3A59-189F9D58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D2E6-2D6A-48CD-A82F-EA586E76916B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AA000-0F63-993D-9E71-D400A2AA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7B0E1-018A-BBCF-58C7-923D1621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8DCB-2C29-2C21-9776-CB1D6867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CAB7C-D2B5-2A37-D648-F34B4A24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9365-270F-4F59-A787-0D46FCB37576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1D513-059A-B0BD-B150-EC1895EF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B328A-7A6C-314E-597A-0089E0FA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A4991-762F-559C-96BA-9CA362EF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5252" y="9254665"/>
            <a:ext cx="10401300" cy="547688"/>
          </a:xfrm>
        </p:spPr>
        <p:txBody>
          <a:bodyPr/>
          <a:lstStyle>
            <a:lvl1pPr algn="r">
              <a:defRPr sz="2000" i="1" u="sng" baseline="0">
                <a:solidFill>
                  <a:srgbClr val="3E52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</p:spTree>
    <p:extLst>
      <p:ext uri="{BB962C8B-B14F-4D97-AF65-F5344CB8AC3E}">
        <p14:creationId xmlns:p14="http://schemas.microsoft.com/office/powerpoint/2010/main" val="400737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4D01-709B-AA40-6B74-E2CABC69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C8CF-A265-41D3-E51A-7D58409F4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38068-0262-D7C6-8030-41F5F593C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7D97-A7E6-82EA-8C51-0377CE2E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827A-171A-48AE-85F1-3C30B0F8DC8E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980F-5D67-8765-9F72-8A7DC854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FB98-2ABC-9833-F793-DBF841EE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1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F27-28E5-20F2-1777-24F64FCD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5BE46-56AA-F810-C962-005503747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F299F-3669-92F3-9070-F0293540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60264-0EAB-3E43-760C-0D69D9DC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045D-2F69-484E-835D-CE480FBA2F9D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C6959-C5EF-956D-01C7-2E58B545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D3D97-7306-D404-E048-DBD801E3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0F1C-152D-DE8F-935A-F5D2F914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835E7-5E9A-EBFA-CC74-8353D0E2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3C9D8-B4F1-D1D3-9165-1E2C0C2E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20D7-CE60-46A4-8A7F-FFE957B752D0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7CF3C-3959-C183-D5B1-83EDA552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8471-A2B9-BA8E-9260-879382FA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8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55E39-058A-28F0-E7CD-B5F1DED8B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36AB6-CD74-886A-62F6-54C0EB6C5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8036-44CC-6F35-4E11-EFF0445B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50AA-2BDB-4244-8C82-941EBA4BF261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8C9D-CFD6-95AE-965E-A81E2823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6AB1-1F46-EE09-9B9A-D32DA58F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ACEBE-5ADA-7B98-B781-1180CDD9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A3C52-E3DE-5398-A341-DE60F4F68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CFC2-391D-A6C0-7AAE-9FD928F31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01282-015F-48C2-B66F-5249E1004D52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509E-7DCF-ECD6-EC9F-8859C5444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0B9F-A3AF-8B84-523F-D9800EB0C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67FFB-4F53-676A-E588-F9B4DA1D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 descr="added image">
            <a:extLst>
              <a:ext uri="{FF2B5EF4-FFF2-40B4-BE49-F238E27FC236}">
                <a16:creationId xmlns:a16="http://schemas.microsoft.com/office/drawing/2014/main" id="{E5A2C5C8-1B56-7756-488B-7A30835C99BA}"/>
              </a:ext>
            </a:extLst>
          </p:cNvPr>
          <p:cNvSpPr/>
          <p:nvPr/>
        </p:nvSpPr>
        <p:spPr>
          <a:xfrm>
            <a:off x="-19374" y="0"/>
            <a:ext cx="18307374" cy="340876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CAE356B-401B-7104-4757-A3521D995CF7}"/>
              </a:ext>
            </a:extLst>
          </p:cNvPr>
          <p:cNvSpPr txBox="1"/>
          <p:nvPr/>
        </p:nvSpPr>
        <p:spPr>
          <a:xfrm>
            <a:off x="4104384" y="1255532"/>
            <a:ext cx="8819911" cy="107823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Why Choose North Wind?</a:t>
            </a:r>
            <a:endParaRPr lang="en-US" sz="5400" b="1" u="none" dirty="0">
              <a:solidFill>
                <a:srgbClr val="FFFFFF"/>
              </a:solidFill>
              <a:latin typeface="Arial" panose="020B0604020202020204" pitchFamily="34" charset="0"/>
              <a:ea typeface="Canva Sans Bold"/>
              <a:cs typeface="Arial" panose="020B0604020202020204" pitchFamily="34" charset="0"/>
              <a:sym typeface="Canva Sans Bold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A55F845-15D1-214F-C2BF-3BCC5EBA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2405F1-E506-5152-21CD-65FA821D1CF5}"/>
              </a:ext>
            </a:extLst>
          </p:cNvPr>
          <p:cNvGrpSpPr/>
          <p:nvPr/>
        </p:nvGrpSpPr>
        <p:grpSpPr>
          <a:xfrm>
            <a:off x="1390566" y="4615527"/>
            <a:ext cx="15468766" cy="2760329"/>
            <a:chOff x="1390566" y="4615527"/>
            <a:chExt cx="15468766" cy="2760329"/>
          </a:xfrm>
        </p:grpSpPr>
        <p:sp>
          <p:nvSpPr>
            <p:cNvPr id="28" name="Rectangle 27" descr="Share With Person">
              <a:extLst>
                <a:ext uri="{FF2B5EF4-FFF2-40B4-BE49-F238E27FC236}">
                  <a16:creationId xmlns:a16="http://schemas.microsoft.com/office/drawing/2014/main" id="{420CF9E7-446B-31D7-E854-1523196AEFA0}"/>
                </a:ext>
              </a:extLst>
            </p:cNvPr>
            <p:cNvSpPr/>
            <p:nvPr/>
          </p:nvSpPr>
          <p:spPr>
            <a:xfrm>
              <a:off x="2136866" y="4615527"/>
              <a:ext cx="1221218" cy="1221218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B909AFC-CBD8-D89C-09CB-318281FCD6E4}"/>
                </a:ext>
              </a:extLst>
            </p:cNvPr>
            <p:cNvSpPr/>
            <p:nvPr/>
          </p:nvSpPr>
          <p:spPr>
            <a:xfrm>
              <a:off x="1390566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Trusted by thousands of clients</a:t>
              </a:r>
            </a:p>
          </p:txBody>
        </p:sp>
        <p:sp>
          <p:nvSpPr>
            <p:cNvPr id="30" name="Rectangle 29" descr="Ribbon">
              <a:extLst>
                <a:ext uri="{FF2B5EF4-FFF2-40B4-BE49-F238E27FC236}">
                  <a16:creationId xmlns:a16="http://schemas.microsoft.com/office/drawing/2014/main" id="{132150D9-57DC-9452-0875-168A59212416}"/>
                </a:ext>
              </a:extLst>
            </p:cNvPr>
            <p:cNvSpPr/>
            <p:nvPr/>
          </p:nvSpPr>
          <p:spPr>
            <a:xfrm>
              <a:off x="5325603" y="4615527"/>
              <a:ext cx="1221218" cy="1221218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EF6631-D19C-4B70-C41E-CE92B163C2CF}"/>
                </a:ext>
              </a:extLst>
            </p:cNvPr>
            <p:cNvSpPr/>
            <p:nvPr/>
          </p:nvSpPr>
          <p:spPr>
            <a:xfrm>
              <a:off x="4579303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Award-winning customer service</a:t>
              </a:r>
            </a:p>
          </p:txBody>
        </p:sp>
        <p:sp>
          <p:nvSpPr>
            <p:cNvPr id="32" name="Rectangle 31" descr="Handshake">
              <a:extLst>
                <a:ext uri="{FF2B5EF4-FFF2-40B4-BE49-F238E27FC236}">
                  <a16:creationId xmlns:a16="http://schemas.microsoft.com/office/drawing/2014/main" id="{7A1C0E2C-5169-821C-1D69-5E9BB805CB7E}"/>
                </a:ext>
              </a:extLst>
            </p:cNvPr>
            <p:cNvSpPr/>
            <p:nvPr/>
          </p:nvSpPr>
          <p:spPr>
            <a:xfrm>
              <a:off x="8514340" y="4615527"/>
              <a:ext cx="1221218" cy="122121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0A5ED3F-9A6A-3AC5-ADEE-C0A934BDC2AF}"/>
                </a:ext>
              </a:extLst>
            </p:cNvPr>
            <p:cNvSpPr/>
            <p:nvPr/>
          </p:nvSpPr>
          <p:spPr>
            <a:xfrm>
              <a:off x="7768040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Strong negotiation skills</a:t>
              </a:r>
            </a:p>
          </p:txBody>
        </p:sp>
        <p:sp>
          <p:nvSpPr>
            <p:cNvPr id="34" name="Rectangle 33" descr="House">
              <a:extLst>
                <a:ext uri="{FF2B5EF4-FFF2-40B4-BE49-F238E27FC236}">
                  <a16:creationId xmlns:a16="http://schemas.microsoft.com/office/drawing/2014/main" id="{C21A74EB-820A-9C63-9C3A-B0167F2BE4AB}"/>
                </a:ext>
              </a:extLst>
            </p:cNvPr>
            <p:cNvSpPr/>
            <p:nvPr/>
          </p:nvSpPr>
          <p:spPr>
            <a:xfrm>
              <a:off x="11703077" y="4615527"/>
              <a:ext cx="1221218" cy="1221218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D69B336-0BAD-2A6D-487B-C9121694B0B1}"/>
                </a:ext>
              </a:extLst>
            </p:cNvPr>
            <p:cNvSpPr/>
            <p:nvPr/>
          </p:nvSpPr>
          <p:spPr>
            <a:xfrm>
              <a:off x="10956777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Extensive property listings</a:t>
              </a:r>
            </a:p>
          </p:txBody>
        </p:sp>
        <p:sp>
          <p:nvSpPr>
            <p:cNvPr id="36" name="Rectangle 35" descr="Scales of Justice">
              <a:extLst>
                <a:ext uri="{FF2B5EF4-FFF2-40B4-BE49-F238E27FC236}">
                  <a16:creationId xmlns:a16="http://schemas.microsoft.com/office/drawing/2014/main" id="{5011FCD5-E322-7159-1D33-663D110664BB}"/>
                </a:ext>
              </a:extLst>
            </p:cNvPr>
            <p:cNvSpPr/>
            <p:nvPr/>
          </p:nvSpPr>
          <p:spPr>
            <a:xfrm>
              <a:off x="14891814" y="4615527"/>
              <a:ext cx="1221218" cy="1221218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0F6CAE9-BE40-99F3-AC0A-7029D411BFEF}"/>
                </a:ext>
              </a:extLst>
            </p:cNvPr>
            <p:cNvSpPr/>
            <p:nvPr/>
          </p:nvSpPr>
          <p:spPr>
            <a:xfrm>
              <a:off x="14145514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Transparent and ethical practices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20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 descr="added image">
            <a:extLst>
              <a:ext uri="{FF2B5EF4-FFF2-40B4-BE49-F238E27FC236}">
                <a16:creationId xmlns:a16="http://schemas.microsoft.com/office/drawing/2014/main" id="{345B9B6B-2F42-D528-6468-E8B865DAFD3B}"/>
              </a:ext>
            </a:extLst>
          </p:cNvPr>
          <p:cNvSpPr/>
          <p:nvPr/>
        </p:nvSpPr>
        <p:spPr>
          <a:xfrm>
            <a:off x="-11210" y="0"/>
            <a:ext cx="18299210" cy="1914705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10800" y="466506"/>
            <a:ext cx="7496175" cy="1125152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8189"/>
              </a:lnSpc>
            </a:pPr>
            <a:r>
              <a:rPr lang="en-US" sz="5850" b="1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Featured Properties</a:t>
            </a:r>
            <a:endParaRPr lang="en-US" sz="585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4FD38-CE0B-5966-C896-EAD7D722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  <p:pic>
        <p:nvPicPr>
          <p:cNvPr id="10" name="Рисунок 9" descr="A large brick house with a driveway&#10;&#10;AI-generated content may be incorrect.">
            <a:extLst>
              <a:ext uri="{FF2B5EF4-FFF2-40B4-BE49-F238E27FC236}">
                <a16:creationId xmlns:a16="http://schemas.microsoft.com/office/drawing/2014/main" id="{0E80F264-4635-BDBC-42D4-04B3C65D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" y="2192111"/>
            <a:ext cx="5715000" cy="3810000"/>
          </a:xfrm>
          <a:prstGeom prst="rect">
            <a:avLst/>
          </a:prstGeom>
        </p:spPr>
      </p:pic>
      <p:pic>
        <p:nvPicPr>
          <p:cNvPr id="11" name="Рисунок 10" descr="A white house with a lawn and trees&#10;&#10;AI-generated content may be incorrect.">
            <a:extLst>
              <a:ext uri="{FF2B5EF4-FFF2-40B4-BE49-F238E27FC236}">
                <a16:creationId xmlns:a16="http://schemas.microsoft.com/office/drawing/2014/main" id="{56E4F362-2AB0-9D79-69CF-667CB2FD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36" y="2188029"/>
            <a:ext cx="5715000" cy="3810000"/>
          </a:xfrm>
          <a:prstGeom prst="rect">
            <a:avLst/>
          </a:prstGeom>
        </p:spPr>
      </p:pic>
      <p:pic>
        <p:nvPicPr>
          <p:cNvPr id="12" name="Рисунок 11" descr="A house with a driveway and lawn&#10;&#10;AI-generated content may be incorrect.">
            <a:extLst>
              <a:ext uri="{FF2B5EF4-FFF2-40B4-BE49-F238E27FC236}">
                <a16:creationId xmlns:a16="http://schemas.microsoft.com/office/drawing/2014/main" id="{9F3AC12A-3544-3B07-8875-18F899406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9497" y="2183946"/>
            <a:ext cx="5715000" cy="3810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745CEC-9D22-4E60-83CB-0434ABD9B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633427"/>
              </p:ext>
            </p:extLst>
          </p:nvPr>
        </p:nvGraphicFramePr>
        <p:xfrm>
          <a:off x="249010" y="5993946"/>
          <a:ext cx="17773651" cy="28468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26001">
                  <a:extLst>
                    <a:ext uri="{9D8B030D-6E8A-4147-A177-3AD203B41FA5}">
                      <a16:colId xmlns:a16="http://schemas.microsoft.com/office/drawing/2014/main" val="3934882373"/>
                    </a:ext>
                  </a:extLst>
                </a:gridCol>
                <a:gridCol w="325465">
                  <a:extLst>
                    <a:ext uri="{9D8B030D-6E8A-4147-A177-3AD203B41FA5}">
                      <a16:colId xmlns:a16="http://schemas.microsoft.com/office/drawing/2014/main" val="3123183039"/>
                    </a:ext>
                  </a:extLst>
                </a:gridCol>
                <a:gridCol w="5718874">
                  <a:extLst>
                    <a:ext uri="{9D8B030D-6E8A-4147-A177-3AD203B41FA5}">
                      <a16:colId xmlns:a16="http://schemas.microsoft.com/office/drawing/2014/main" val="655308539"/>
                    </a:ext>
                  </a:extLst>
                </a:gridCol>
                <a:gridCol w="294468">
                  <a:extLst>
                    <a:ext uri="{9D8B030D-6E8A-4147-A177-3AD203B41FA5}">
                      <a16:colId xmlns:a16="http://schemas.microsoft.com/office/drawing/2014/main" val="4040201616"/>
                    </a:ext>
                  </a:extLst>
                </a:gridCol>
                <a:gridCol w="5708843">
                  <a:extLst>
                    <a:ext uri="{9D8B030D-6E8A-4147-A177-3AD203B41FA5}">
                      <a16:colId xmlns:a16="http://schemas.microsoft.com/office/drawing/2014/main" val="4010631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Elegant Brick Colonial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Modern Garden Retreat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Stylish Family Residence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extLst>
                  <a:ext uri="{0D108BD9-81ED-4DB2-BD59-A6C34878D82A}">
                    <a16:rowId xmlns:a16="http://schemas.microsoft.com/office/drawing/2014/main" val="5900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4 Bed, 3 Bath, 2-Car Garage, Landscaped Front Yard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Spacious family home with a classic look, formal entry, and built-in playground.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3 Bed, 2.5 Bath, Floor-to-Ceiling Windows, Private Backyard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Contemporary design with open layout, </a:t>
                      </a:r>
                      <a:b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</a:b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full of light and outdoor views.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4 Beds, 2.5 Bath, Attached Garage, Private Drive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Bright colonial-style home with brickwork and a welcoming front entry.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extLst>
                  <a:ext uri="{0D108BD9-81ED-4DB2-BD59-A6C34878D82A}">
                    <a16:rowId xmlns:a16="http://schemas.microsoft.com/office/drawing/2014/main" val="3923621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8837" y="866125"/>
            <a:ext cx="10453590" cy="115374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875"/>
              </a:lnSpc>
            </a:pPr>
            <a:r>
              <a:rPr lang="en-US" sz="5600" b="1" u="none" dirty="0">
                <a:solidFill>
                  <a:srgbClr val="FFFFFF"/>
                </a:solidFill>
                <a:latin typeface="+mj-lt"/>
                <a:ea typeface="Canva Sans Bold"/>
                <a:cs typeface="Canva Sans Bold"/>
                <a:sym typeface="Canva Sans Bold"/>
              </a:rPr>
              <a:t>Meet Our Agents</a:t>
            </a:r>
            <a:endParaRPr lang="ru-RU" sz="5600" dirty="0"/>
          </a:p>
        </p:txBody>
      </p:sp>
      <p:sp>
        <p:nvSpPr>
          <p:cNvPr id="3" name="TextBox 3"/>
          <p:cNvSpPr txBox="1"/>
          <p:nvPr/>
        </p:nvSpPr>
        <p:spPr>
          <a:xfrm>
            <a:off x="6057131" y="6104494"/>
            <a:ext cx="8657572" cy="2205163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Jane Doe </a:t>
            </a:r>
            <a:endParaRPr lang="ru-RU" sz="2800" b="1" dirty="0">
              <a:cs typeface="Arial"/>
            </a:endParaRPr>
          </a:p>
          <a:p>
            <a:pPr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Residential </a:t>
            </a:r>
            <a:r>
              <a:rPr lang="en-US" sz="2400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property specialist</a:t>
            </a: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 with 10 years of experience. </a:t>
            </a:r>
            <a:endParaRPr lang="en-US" sz="2400" dirty="0">
              <a:cs typeface="Arial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1-206-555-1418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 err="1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jane.doe@northwind.real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83B9BB-5609-08BC-FC1B-1E40018C4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" b="3138"/>
          <a:stretch/>
        </p:blipFill>
        <p:spPr>
          <a:xfrm>
            <a:off x="3018820" y="5898260"/>
            <a:ext cx="2273309" cy="2417741"/>
          </a:xfrm>
          <a:prstGeom prst="ellipse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56468" y="2870302"/>
            <a:ext cx="8626258" cy="2205163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John </a:t>
            </a:r>
            <a:r>
              <a:rPr lang="en-US" sz="2800" b="1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Doe</a:t>
            </a: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 </a:t>
            </a:r>
            <a:endParaRPr lang="ru-RU" sz="2800" b="1" dirty="0">
              <a:cs typeface="Arial"/>
            </a:endParaRPr>
          </a:p>
          <a:p>
            <a:pPr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Expert in commercial real estate and </a:t>
            </a:r>
            <a:r>
              <a:rPr lang="en-US" sz="2400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investment opportunities</a:t>
            </a: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. </a:t>
            </a:r>
            <a:endParaRPr lang="en-US" sz="2400" dirty="0">
              <a:cs typeface="Arial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1-206-555-1417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 err="1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john.doe@northwind.real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A6524-EB4B-1EB9-9167-577D2A8D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Your Dream Home Awaits</a:t>
            </a:r>
          </a:p>
        </p:txBody>
      </p:sp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2A82CC4-ADFE-4A96-C4E8-3A74A6A1D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324" y="2660555"/>
            <a:ext cx="2254303" cy="241491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 descr="added image">
            <a:extLst>
              <a:ext uri="{FF2B5EF4-FFF2-40B4-BE49-F238E27FC236}">
                <a16:creationId xmlns:a16="http://schemas.microsoft.com/office/drawing/2014/main" id="{5A3539F9-CB27-AE35-A9A9-FE836E75A0D3}"/>
              </a:ext>
            </a:extLst>
          </p:cNvPr>
          <p:cNvSpPr/>
          <p:nvPr/>
        </p:nvSpPr>
        <p:spPr>
          <a:xfrm>
            <a:off x="14624217" y="-1"/>
            <a:ext cx="3663208" cy="1029082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reeform 3" descr="added image">
            <a:extLst>
              <a:ext uri="{FF2B5EF4-FFF2-40B4-BE49-F238E27FC236}">
                <a16:creationId xmlns:a16="http://schemas.microsoft.com/office/drawing/2014/main" id="{A2348C90-797A-CCF9-6EEB-97A6C02B8EB4}"/>
              </a:ext>
            </a:extLst>
          </p:cNvPr>
          <p:cNvSpPr/>
          <p:nvPr/>
        </p:nvSpPr>
        <p:spPr>
          <a:xfrm>
            <a:off x="1276287" y="1483998"/>
            <a:ext cx="15739539" cy="7323150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173829" y="2240241"/>
            <a:ext cx="6000750" cy="103522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u="none" dirty="0">
                <a:solidFill>
                  <a:srgbClr val="FFFFFF"/>
                </a:solidFill>
                <a:latin typeface="+mj-lt"/>
                <a:ea typeface="Canva Sans Bold"/>
                <a:cs typeface="Canva Sans Bold"/>
                <a:sym typeface="Canva Sans Bold"/>
              </a:rPr>
              <a:t>Contact Us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BA1763-4A6F-D58F-8933-56320DE400FB}"/>
              </a:ext>
            </a:extLst>
          </p:cNvPr>
          <p:cNvGrpSpPr/>
          <p:nvPr/>
        </p:nvGrpSpPr>
        <p:grpSpPr>
          <a:xfrm>
            <a:off x="4172284" y="3660757"/>
            <a:ext cx="9939838" cy="3743264"/>
            <a:chOff x="1726155" y="2892077"/>
            <a:chExt cx="9939838" cy="374326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0ED494-89D3-6A3A-69F8-F029A8BB7D11}"/>
                </a:ext>
              </a:extLst>
            </p:cNvPr>
            <p:cNvSpPr/>
            <p:nvPr/>
          </p:nvSpPr>
          <p:spPr>
            <a:xfrm>
              <a:off x="1726155" y="2892077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 descr="City">
              <a:extLst>
                <a:ext uri="{FF2B5EF4-FFF2-40B4-BE49-F238E27FC236}">
                  <a16:creationId xmlns:a16="http://schemas.microsoft.com/office/drawing/2014/main" id="{96A7A3A8-371B-0598-C727-AF95C46F7CA2}"/>
                </a:ext>
              </a:extLst>
            </p:cNvPr>
            <p:cNvSpPr/>
            <p:nvPr/>
          </p:nvSpPr>
          <p:spPr>
            <a:xfrm>
              <a:off x="2002497" y="3168419"/>
              <a:ext cx="763229" cy="763229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38C170-3D3D-AB2C-0425-D22C95669D58}"/>
                </a:ext>
              </a:extLst>
            </p:cNvPr>
            <p:cNvSpPr/>
            <p:nvPr/>
          </p:nvSpPr>
          <p:spPr>
            <a:xfrm>
              <a:off x="3324049" y="2892077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One Unk</a:t>
              </a: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n</a:t>
              </a: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own Way, </a:t>
              </a:r>
            </a:p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Twin Points WA, 98156	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0F2A9E-2CFF-5158-5F93-CCAF2ADE33C5}"/>
                </a:ext>
              </a:extLst>
            </p:cNvPr>
            <p:cNvSpPr/>
            <p:nvPr/>
          </p:nvSpPr>
          <p:spPr>
            <a:xfrm>
              <a:off x="6966307" y="2892077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 descr="Receiver">
              <a:extLst>
                <a:ext uri="{FF2B5EF4-FFF2-40B4-BE49-F238E27FC236}">
                  <a16:creationId xmlns:a16="http://schemas.microsoft.com/office/drawing/2014/main" id="{16D337D5-FC1E-4E02-FBFA-FA3ABF6DFC77}"/>
                </a:ext>
              </a:extLst>
            </p:cNvPr>
            <p:cNvSpPr/>
            <p:nvPr/>
          </p:nvSpPr>
          <p:spPr>
            <a:xfrm>
              <a:off x="7242648" y="3168419"/>
              <a:ext cx="763229" cy="76322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E01A5F-EDB0-3C43-8395-2248B1AF9E07}"/>
                </a:ext>
              </a:extLst>
            </p:cNvPr>
            <p:cNvSpPr/>
            <p:nvPr/>
          </p:nvSpPr>
          <p:spPr>
            <a:xfrm>
              <a:off x="8564200" y="2892077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889000"/>
              <a:r>
                <a:rPr lang="en-US" sz="2000" b="1" kern="1200" dirty="0">
                  <a:solidFill>
                    <a:schemeClr val="bg1"/>
                  </a:solidFill>
                </a:rPr>
                <a:t>Phone: </a:t>
              </a:r>
              <a:endParaRPr lang="ru-RU" dirty="0">
                <a:solidFill>
                  <a:schemeClr val="bg1"/>
                </a:solidFill>
                <a:cs typeface="Arial" panose="020B0604020202020204"/>
              </a:endParaRPr>
            </a:p>
            <a:p>
              <a:pPr defTabSz="889000"/>
              <a:r>
                <a:rPr lang="en-US" sz="2000" kern="1200" dirty="0">
                  <a:solidFill>
                    <a:schemeClr val="bg1"/>
                  </a:solidFill>
                </a:rPr>
                <a:t>1-206-555-1417</a:t>
              </a:r>
              <a:endParaRPr lang="en-US" dirty="0">
                <a:solidFill>
                  <a:schemeClr val="bg1"/>
                </a:solidFill>
                <a:cs typeface="Arial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FB48DA1-92E3-D547-D36B-885060DD1886}"/>
                </a:ext>
              </a:extLst>
            </p:cNvPr>
            <p:cNvSpPr/>
            <p:nvPr/>
          </p:nvSpPr>
          <p:spPr>
            <a:xfrm>
              <a:off x="1726155" y="5319429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 descr="Send">
              <a:extLst>
                <a:ext uri="{FF2B5EF4-FFF2-40B4-BE49-F238E27FC236}">
                  <a16:creationId xmlns:a16="http://schemas.microsoft.com/office/drawing/2014/main" id="{7D8F0336-93C7-E0A9-04B8-65050F042AB8}"/>
                </a:ext>
              </a:extLst>
            </p:cNvPr>
            <p:cNvSpPr/>
            <p:nvPr/>
          </p:nvSpPr>
          <p:spPr>
            <a:xfrm>
              <a:off x="2002497" y="5595771"/>
              <a:ext cx="763229" cy="76322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81977CD-EA9C-5248-64C1-210EE03EC6BB}"/>
                </a:ext>
              </a:extLst>
            </p:cNvPr>
            <p:cNvSpPr/>
            <p:nvPr/>
          </p:nvSpPr>
          <p:spPr>
            <a:xfrm>
              <a:off x="3324049" y="5319429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Email: </a:t>
              </a:r>
              <a:r>
                <a:rPr lang="en-US" sz="2000" kern="1200" dirty="0" err="1">
                  <a:solidFill>
                    <a:schemeClr val="bg1"/>
                  </a:solidFill>
                </a:rPr>
                <a:t>contact@</a:t>
              </a:r>
              <a:r>
                <a:rPr lang="en-US" sz="2000" dirty="0" err="1">
                  <a:solidFill>
                    <a:schemeClr val="bg1"/>
                  </a:solidFill>
                </a:rPr>
                <a:t>northwind</a:t>
              </a:r>
              <a:r>
                <a:rPr lang="en-US" sz="2000" kern="1200" dirty="0" err="1">
                  <a:solidFill>
                    <a:schemeClr val="bg1"/>
                  </a:solidFill>
                </a:rPr>
                <a:t>.real</a:t>
              </a:r>
              <a:endParaRPr lang="en-US" sz="2000" kern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14BF299-2FB3-6C33-FA29-5A8F1414055E}"/>
                </a:ext>
              </a:extLst>
            </p:cNvPr>
            <p:cNvSpPr/>
            <p:nvPr/>
          </p:nvSpPr>
          <p:spPr>
            <a:xfrm>
              <a:off x="6966307" y="5319429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1" descr="Monitor">
              <a:extLst>
                <a:ext uri="{FF2B5EF4-FFF2-40B4-BE49-F238E27FC236}">
                  <a16:creationId xmlns:a16="http://schemas.microsoft.com/office/drawing/2014/main" id="{90D3BD4E-12CE-7EFC-F9E9-0A257E543B5A}"/>
                </a:ext>
              </a:extLst>
            </p:cNvPr>
            <p:cNvSpPr/>
            <p:nvPr/>
          </p:nvSpPr>
          <p:spPr>
            <a:xfrm>
              <a:off x="7242648" y="5595771"/>
              <a:ext cx="763229" cy="763229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D750E2-4B3E-0590-83C2-4588318058F7}"/>
                </a:ext>
              </a:extLst>
            </p:cNvPr>
            <p:cNvSpPr/>
            <p:nvPr/>
          </p:nvSpPr>
          <p:spPr>
            <a:xfrm>
              <a:off x="8564200" y="5319429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Website:</a:t>
              </a:r>
              <a:r>
                <a:rPr lang="en-US" sz="2000" kern="1200" dirty="0">
                  <a:solidFill>
                    <a:schemeClr val="bg1"/>
                  </a:solidFill>
                </a:rPr>
                <a:t> www.northwind.real</a:t>
              </a: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D76D68C-2122-2E58-7705-CAFDD15B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A4F1C"/>
      </a:accent1>
      <a:accent2>
        <a:srgbClr val="678A26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DBFD1EB3810349A9B4BCA85631D1F1" ma:contentTypeVersion="18" ma:contentTypeDescription="Create a new document." ma:contentTypeScope="" ma:versionID="2b0728669773e8667927e56c57c26b0b">
  <xsd:schema xmlns:xsd="http://www.w3.org/2001/XMLSchema" xmlns:xs="http://www.w3.org/2001/XMLSchema" xmlns:p="http://schemas.microsoft.com/office/2006/metadata/properties" xmlns:ns3="2e8f5ba5-0919-4a18-9506-6ba1469d91ca" xmlns:ns4="9e962946-6961-4e21-9ebb-cad52190cc2b" targetNamespace="http://schemas.microsoft.com/office/2006/metadata/properties" ma:root="true" ma:fieldsID="c06223713c570b7501485e790df89867" ns3:_="" ns4:_="">
    <xsd:import namespace="2e8f5ba5-0919-4a18-9506-6ba1469d91ca"/>
    <xsd:import namespace="9e962946-6961-4e21-9ebb-cad52190cc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f5ba5-0919-4a18-9506-6ba1469d91c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962946-6961-4e21-9ebb-cad52190c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962946-6961-4e21-9ebb-cad52190cc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BAE3A-8CC5-4EFE-89E8-4B81F79B238D}">
  <ds:schemaRefs>
    <ds:schemaRef ds:uri="2e8f5ba5-0919-4a18-9506-6ba1469d91ca"/>
    <ds:schemaRef ds:uri="9e962946-6961-4e21-9ebb-cad52190c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24AEFC-7EAE-438D-BC72-9BE44F7FE34E}">
  <ds:schemaRefs>
    <ds:schemaRef ds:uri="2e8f5ba5-0919-4a18-9506-6ba1469d91ca"/>
    <ds:schemaRef ds:uri="http://purl.org/dc/dcmitype/"/>
    <ds:schemaRef ds:uri="9e962946-6961-4e21-9ebb-cad52190cc2b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CD1400B-CEF8-4A01-9705-95C5DCB778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4d60396-9352-4ae8-b84c-e69244584fa4}" enabled="0" method="" siteId="{e4d60396-9352-4ae8-b84c-e69244584f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194</Words>
  <Application>Microsoft Office PowerPoint</Application>
  <PresentationFormat>Custom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Canva Sans</vt:lpstr>
      <vt:lpstr>Aptos</vt:lpstr>
      <vt:lpstr>Custom Design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Presentation</dc:title>
  <dc:creator>DevExpress</dc:creator>
  <cp:lastModifiedBy>Alexander Khromushkin</cp:lastModifiedBy>
  <cp:revision>13</cp:revision>
  <dcterms:created xsi:type="dcterms:W3CDTF">2006-08-16T00:00:00Z</dcterms:created>
  <dcterms:modified xsi:type="dcterms:W3CDTF">2026-03-05T10:06:31Z</dcterms:modified>
  <dc:identifier>DAGsM9Q93GE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0x010100D7DBFD1EB3810349A9B4BCA85631D1F1</vt:lpwstr>
  </property>
</Properties>
</file>